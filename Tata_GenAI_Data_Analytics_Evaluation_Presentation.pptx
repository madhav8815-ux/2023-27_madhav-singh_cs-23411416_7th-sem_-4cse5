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231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TATA GENAI POWERED DATA ANALYTICS</a:t>
            </a:r>
          </a:p>
          <a:p>
            <a:pPr algn="ctr">
              <a:defRPr sz="1900"/>
            </a:pPr>
            <a:r>
              <a:t>Industry Experience / Job Simulation Evaluation</a:t>
            </a:r>
          </a:p>
        </p:txBody>
      </p:sp>
      <p:pic>
        <p:nvPicPr>
          <p:cNvPr id="3" name="Picture 2" descr="10001171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7160"/>
            <a:ext cx="3703320" cy="3230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49039" y="3977639"/>
            <a:ext cx="4709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Name: Madhav Singh</a:t>
            </a:r>
          </a:p>
          <a:p>
            <a:pPr>
              <a:spcAft>
                <a:spcPts val="400"/>
              </a:spcAft>
              <a:defRPr sz="1600"/>
            </a:pPr>
            <a:r>
              <a:t>Roll No.: CS-23411416</a:t>
            </a:r>
          </a:p>
          <a:p>
            <a:pPr>
              <a:spcAft>
                <a:spcPts val="400"/>
              </a:spcAft>
              <a:defRPr sz="1600"/>
            </a:pPr>
            <a:r>
              <a:t>Section: 4CSE5</a:t>
            </a:r>
          </a:p>
          <a:p>
            <a:pPr>
              <a:spcAft>
                <a:spcPts val="400"/>
              </a:spcAft>
              <a:defRPr sz="1600"/>
            </a:pPr>
            <a:r>
              <a:t>Session: 2023-27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Program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Tata GenAI Powered Data Analytics Job Simulation through Forage</a:t>
            </a:r>
          </a:p>
          <a:p>
            <a:pPr>
              <a:spcAft>
                <a:spcPts val="1000"/>
              </a:spcAft>
              <a:defRPr sz="1800"/>
            </a:pPr>
            <a:r>
              <a:t>Industry-oriented work focused on financial risk, delinquency prediction and collections</a:t>
            </a:r>
          </a:p>
          <a:p>
            <a:pPr>
              <a:spcAft>
                <a:spcPts val="1000"/>
              </a:spcAft>
              <a:defRPr sz="1800"/>
            </a:pPr>
            <a:r>
              <a:t>Four linked deliverables: EDA &amp; risk profiling; predictive modeling; strategic business report; autonomous responsible-AI collections strategy</a:t>
            </a:r>
          </a:p>
          <a:p>
            <a:pPr>
              <a:spcAft>
                <a:spcPts val="1000"/>
              </a:spcAft>
              <a:defRPr sz="1800"/>
            </a:pPr>
            <a:r>
              <a:t>Certificate issued September 9,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Identify early warning signals associated with customer delinquency</a:t>
            </a:r>
          </a:p>
          <a:p>
            <a:pPr>
              <a:spcAft>
                <a:spcPts val="1000"/>
              </a:spcAft>
              <a:defRPr sz="1800"/>
            </a:pPr>
            <a:r>
              <a:t>Prepare data for predictive risk modeling</a:t>
            </a:r>
          </a:p>
          <a:p>
            <a:pPr>
              <a:spcAft>
                <a:spcPts val="1000"/>
              </a:spcAft>
              <a:defRPr sz="1800"/>
            </a:pPr>
            <a:r>
              <a:t>Design a model that can rank delinquency risk and explain decisions</a:t>
            </a:r>
          </a:p>
          <a:p>
            <a:pPr>
              <a:spcAft>
                <a:spcPts val="1000"/>
              </a:spcAft>
              <a:defRPr sz="1800"/>
            </a:pPr>
            <a:r>
              <a:t>Translate analytical insights into proactive collections interventions</a:t>
            </a:r>
          </a:p>
          <a:p>
            <a:pPr>
              <a:spcAft>
                <a:spcPts val="1000"/>
              </a:spcAft>
              <a:defRPr sz="1800"/>
            </a:pPr>
            <a:r>
              <a:t>Balance automation with fairness, explainability and human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Task 1 — EDA &amp; Risk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 issues: missing income/payment fields, inconsistent values and utilization anomalies</a:t>
            </a:r>
          </a:p>
          <a:p>
            <a:pPr>
              <a:spcAft>
                <a:spcPts val="1000"/>
              </a:spcAft>
              <a:defRPr sz="1800"/>
            </a:pPr>
            <a:r>
              <a:t>Outliers: revolving utilization above 100% and severe DTI values</a:t>
            </a:r>
          </a:p>
          <a:p>
            <a:pPr>
              <a:spcAft>
                <a:spcPts val="1000"/>
              </a:spcAft>
              <a:defRPr sz="1800"/>
            </a:pPr>
            <a:r>
              <a:t>Early indicators: high utilization, recurring late payments and recent hard-credit-inquiry spikes</a:t>
            </a:r>
          </a:p>
          <a:p>
            <a:pPr>
              <a:spcAft>
                <a:spcPts val="1000"/>
              </a:spcAft>
              <a:defRPr sz="1800"/>
            </a:pPr>
            <a:r>
              <a:t>Treatment: employment-segment median imputation for income; utilization capping/imputation; zero-fill for unrecorded delinquency counters</a:t>
            </a:r>
          </a:p>
          <a:p>
            <a:pPr>
              <a:spcAft>
                <a:spcPts val="1000"/>
              </a:spcAft>
              <a:defRPr sz="1800"/>
            </a:pPr>
            <a:r>
              <a:t>Key risk patterns: utilization &gt;80%, repeated 30+ day delinquencies, high DTI and credit-inquiry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Task 2 — Predictive Delinquency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Recommended architecture: LightGBM/XGBoost with Logistic Regression baseline</a:t>
            </a:r>
          </a:p>
          <a:p>
            <a:pPr>
              <a:spcAft>
                <a:spcPts val="1000"/>
              </a:spcAft>
              <a:defRPr sz="1800"/>
            </a:pPr>
            <a:r>
              <a:t>Why: strong fit for tabular financial data and nonlinear interactions</a:t>
            </a:r>
          </a:p>
          <a:p>
            <a:pPr>
              <a:spcAft>
                <a:spcPts val="1000"/>
              </a:spcAft>
              <a:defRPr sz="1800"/>
            </a:pPr>
            <a:r>
              <a:t>Top features: utilization, missed payments, DTI, inquiry velocity, employment/income stability</a:t>
            </a:r>
          </a:p>
          <a:p>
            <a:pPr>
              <a:spcAft>
                <a:spcPts val="1000"/>
              </a:spcAft>
              <a:defRPr sz="1800"/>
            </a:pPr>
            <a:r>
              <a:t>Workflow: preprocessing → feature engineering → probability inference → risk buckets → SHAP reason codes</a:t>
            </a:r>
          </a:p>
          <a:p>
            <a:pPr>
              <a:spcAft>
                <a:spcPts val="1000"/>
              </a:spcAft>
              <a:defRPr sz="1800"/>
            </a:pPr>
            <a:r>
              <a:t>Risk tiers: Low, Medium and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Model Evaluation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PR-AUC and ROC-AUC for discriminative separation</a:t>
            </a:r>
          </a:p>
          <a:p>
            <a:pPr>
              <a:spcAft>
                <a:spcPts val="1000"/>
              </a:spcAft>
              <a:defRPr sz="1800"/>
            </a:pPr>
            <a:r>
              <a:t>Recall at High Risk tier to maximize capture of actual delinquencies</a:t>
            </a:r>
          </a:p>
          <a:p>
            <a:pPr>
              <a:spcAft>
                <a:spcPts val="1000"/>
              </a:spcAft>
              <a:defRPr sz="1800"/>
            </a:pPr>
            <a:r>
              <a:t>Precision and false-positive rate to protect customer experience</a:t>
            </a:r>
          </a:p>
          <a:p>
            <a:pPr>
              <a:spcAft>
                <a:spcPts val="1000"/>
              </a:spcAft>
              <a:defRPr sz="1800"/>
            </a:pPr>
            <a:r>
              <a:t>Disparate Impact and Equalized Odds for fairness assessment</a:t>
            </a:r>
          </a:p>
          <a:p>
            <a:pPr>
              <a:spcAft>
                <a:spcPts val="1000"/>
              </a:spcAft>
              <a:defRPr sz="1800"/>
            </a:pPr>
            <a:r>
              <a:t>PSI monitoring for drift; submitted plan uses PSI &gt;0.25 or &gt;5% F1 degradation as retraining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Task 3 — Business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Top drivers: utilization &gt;80%, historical missed-payment velocity, and high DTI combined with elevated credit inquiries</a:t>
            </a:r>
          </a:p>
          <a:p>
            <a:pPr>
              <a:spcAft>
                <a:spcPts val="1000"/>
              </a:spcAft>
              <a:defRPr sz="1800"/>
            </a:pPr>
            <a:r>
              <a:t>SMART target: reduce 30-to-90-day roll rates by 18% in the high-utilization segment</a:t>
            </a:r>
          </a:p>
          <a:p>
            <a:pPr>
              <a:spcAft>
                <a:spcPts val="1000"/>
              </a:spcAft>
              <a:defRPr sz="1800"/>
            </a:pPr>
            <a:r>
              <a:t>Move from reactive post-default collections toward proactive early intervention</a:t>
            </a:r>
          </a:p>
          <a:p>
            <a:pPr>
              <a:spcAft>
                <a:spcPts val="1000"/>
              </a:spcAft>
              <a:defRPr sz="1800"/>
            </a:pPr>
            <a:r>
              <a:t>Use reminders, flexible rescheduling and supportive payment options</a:t>
            </a:r>
          </a:p>
          <a:p>
            <a:pPr>
              <a:spcAft>
                <a:spcPts val="1000"/>
              </a:spcAft>
              <a:defRPr sz="1800"/>
            </a:pPr>
            <a:r>
              <a:t>Measure outcomes through cohort tracking and a holdout control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Task 4 — End-to-End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Data ingestion: balances, transactions, utilization, delinquency history and inquiry velocity</a:t>
            </a:r>
          </a:p>
          <a:p>
            <a:pPr>
              <a:spcAft>
                <a:spcPts val="1000"/>
              </a:spcAft>
              <a:defRPr sz="1800"/>
            </a:pPr>
            <a:r>
              <a:t>2. Decision engine: calibrated XGBoost, risk probability, SHAP reason codes and policy thresholds</a:t>
            </a:r>
          </a:p>
          <a:p>
            <a:pPr>
              <a:spcAft>
                <a:spcPts val="1000"/>
              </a:spcAft>
              <a:defRPr sz="1800"/>
            </a:pPr>
            <a:r>
              <a:t>3. Intelligent action: SMS/app alerts, flexible rescheduling, supportive offers and escalation</a:t>
            </a:r>
          </a:p>
          <a:p>
            <a:pPr>
              <a:spcAft>
                <a:spcPts val="1000"/>
              </a:spcAft>
              <a:defRPr sz="1800"/>
            </a:pPr>
            <a:r>
              <a:t>4. Learning loop: repayment response, PSI audits, roll-rate delta and model recalibration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Agentic AI + Human Oversight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Automate routine, low-friction digital notifications and standard payment assistance</a:t>
            </a:r>
          </a:p>
          <a:p>
            <a:pPr>
              <a:spcAft>
                <a:spcPts val="1000"/>
              </a:spcAft>
              <a:defRPr sz="1800"/>
            </a:pPr>
            <a:r>
              <a:t>Use AI-guided micro-payment proposals and conversational payment execution for standard cases</a:t>
            </a:r>
          </a:p>
          <a:p>
            <a:pPr>
              <a:spcAft>
                <a:spcPts val="1000"/>
              </a:spcAft>
              <a:defRPr sz="1800"/>
            </a:pPr>
            <a:r>
              <a:t>Human review for hardship, complex restructuring, disputes, fraud allegations and negotiated settlements</a:t>
            </a:r>
          </a:p>
          <a:p>
            <a:pPr>
              <a:spcAft>
                <a:spcPts val="1000"/>
              </a:spcAft>
              <a:defRPr sz="1800"/>
            </a:pPr>
            <a:r>
              <a:t>Human authorization before external agency referrals, legal proceedings or credit-line freezing/cancellation</a:t>
            </a:r>
          </a:p>
          <a:p>
            <a:pPr>
              <a:spcAft>
                <a:spcPts val="1000"/>
              </a:spcAft>
              <a:defRPr sz="1800"/>
            </a:pPr>
            <a:r>
              <a:t>Principle: automate volume; reserve human judgment for high-sensitivity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Responsible AI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Remove protected attributes and geographical proxies from model training</a:t>
            </a:r>
          </a:p>
          <a:p>
            <a:pPr>
              <a:spcAft>
                <a:spcPts val="1000"/>
              </a:spcAft>
              <a:defRPr sz="1800"/>
            </a:pPr>
            <a:r>
              <a:t>Audit disparate impact using the submitted 4/5ths (80%) rule</a:t>
            </a:r>
          </a:p>
          <a:p>
            <a:pPr>
              <a:spcAft>
                <a:spcPts val="1000"/>
              </a:spcAft>
              <a:defRPr sz="1800"/>
            </a:pPr>
            <a:r>
              <a:t>Use SHAP reason codes for transparent customer and operational explanations</a:t>
            </a:r>
          </a:p>
          <a:p>
            <a:pPr>
              <a:spcAft>
                <a:spcPts val="1000"/>
              </a:spcAft>
              <a:defRPr sz="1800"/>
            </a:pPr>
            <a:r>
              <a:t>Avoid punitive autonomous actions; require human validation</a:t>
            </a:r>
          </a:p>
          <a:p>
            <a:pPr>
              <a:spcAft>
                <a:spcPts val="1000"/>
              </a:spcAft>
              <a:defRPr sz="1800"/>
            </a:pPr>
            <a:r>
              <a:t>Provide escalation and right-to-appeal mechanisms</a:t>
            </a:r>
          </a:p>
          <a:p>
            <a:pPr>
              <a:spcAft>
                <a:spcPts val="1000"/>
              </a:spcAft>
              <a:defRPr sz="1800"/>
            </a:pPr>
            <a:r>
              <a:t>Apply communication safeguards: contact limits, time windows, opt-outs and consent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18% reduction in 30-to-90-day roll rates</a:t>
            </a:r>
          </a:p>
          <a:p>
            <a:pPr>
              <a:spcAft>
                <a:spcPts val="1000"/>
              </a:spcAft>
              <a:defRPr sz="1800"/>
            </a:pPr>
            <a:r>
              <a:t>35% decrease in agency recovery costs</a:t>
            </a:r>
          </a:p>
          <a:p>
            <a:pPr>
              <a:spcAft>
                <a:spcPts val="1000"/>
              </a:spcAft>
              <a:defRPr sz="1800"/>
            </a:pPr>
            <a:r>
              <a:t>40% operational efficiency uplift</a:t>
            </a:r>
          </a:p>
          <a:p>
            <a:pPr>
              <a:spcAft>
                <a:spcPts val="1000"/>
              </a:spcAft>
              <a:defRPr sz="1800"/>
            </a:pPr>
            <a:r>
              <a:t>12% improvement in net cured accounts</a:t>
            </a:r>
          </a:p>
          <a:p>
            <a:pPr>
              <a:spcAft>
                <a:spcPts val="1000"/>
              </a:spcAft>
              <a:defRPr sz="1800"/>
            </a:pPr>
            <a:r>
              <a:t>Expected qualitative benefits: better customer trust, standardized treatment and audit-ready decision logs</a:t>
            </a:r>
          </a:p>
          <a:p>
            <a:pPr>
              <a:spcAft>
                <a:spcPts val="1000"/>
              </a:spcAft>
              <a:defRPr sz="1800"/>
            </a:pPr>
            <a:r>
              <a:t>These are expected outcomes stated in the submitted strategy deck, not independently 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Key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Data-quality assessment and exploratory analysis</a:t>
            </a:r>
          </a:p>
          <a:p>
            <a:pPr>
              <a:spcAft>
                <a:spcPts val="1000"/>
              </a:spcAft>
              <a:defRPr sz="1800"/>
            </a:pPr>
            <a:r>
              <a:t>Credit-risk and delinquency profiling</a:t>
            </a:r>
          </a:p>
          <a:p>
            <a:pPr>
              <a:spcAft>
                <a:spcPts val="1000"/>
              </a:spcAft>
              <a:defRPr sz="1800"/>
            </a:pPr>
            <a:r>
              <a:t>Predictive modeling for imbalanced tabular data</a:t>
            </a:r>
          </a:p>
          <a:p>
            <a:pPr>
              <a:spcAft>
                <a:spcPts val="1000"/>
              </a:spcAft>
              <a:defRPr sz="1800"/>
            </a:pPr>
            <a:r>
              <a:t>Model explainability with SHAP</a:t>
            </a:r>
          </a:p>
          <a:p>
            <a:pPr>
              <a:spcAft>
                <a:spcPts val="1000"/>
              </a:spcAft>
              <a:defRPr sz="1800"/>
            </a:pPr>
            <a:r>
              <a:t>Business storytelling and strategy development</a:t>
            </a:r>
          </a:p>
          <a:p>
            <a:pPr>
              <a:spcAft>
                <a:spcPts val="1000"/>
              </a:spcAft>
              <a:defRPr sz="1800"/>
            </a:pPr>
            <a:r>
              <a:t>Responsible AI, fairness, human oversight and model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four tasks form one end-to-end solution: data → risk signals → predictive scoring → explanation → intervention → human escalation → monitoring</a:t>
            </a:r>
          </a:p>
          <a:p>
            <a:pPr>
              <a:spcAft>
                <a:spcPts val="1000"/>
              </a:spcAft>
              <a:defRPr sz="1800"/>
            </a:pPr>
            <a:r>
              <a:t>The approach combines analytical rigor with customer-centric and responsible-AI safeguards</a:t>
            </a:r>
          </a:p>
          <a:p>
            <a:pPr>
              <a:spcAft>
                <a:spcPts val="1000"/>
              </a:spcAft>
              <a:defRPr sz="1800"/>
            </a:pPr>
            <a:r>
              <a:t>The experience strengthened my understanding of how AI and analytics can support real-world financial-services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Madhav Singh</a:t>
            </a:r>
          </a:p>
          <a:p>
            <a:pPr>
              <a:spcAft>
                <a:spcPts val="1000"/>
              </a:spcAft>
              <a:defRPr sz="1800"/>
            </a:pPr>
            <a:r>
              <a:t>Tata GenAI Powered Data Analytics Job Simulation</a:t>
            </a:r>
          </a:p>
          <a:p>
            <a:pPr>
              <a:spcAft>
                <a:spcPts val="1000"/>
              </a:spcAft>
              <a:defRPr sz="1800"/>
            </a:pPr>
            <a:r>
              <a:t>Forage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Madhav Singh | Roll No.: CS-23411416 | Section: 4CSE5 | Session: 2023-27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